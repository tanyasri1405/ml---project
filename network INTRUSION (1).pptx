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64" d="100"/>
          <a:sy n="64" d="100"/>
        </p:scale>
        <p:origin x="1566" y="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700073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Tanya Sri — Introduction</a:t>
            </a:r>
          </a:p>
          <a:p>
            <a:endParaRPr/>
          </a:p>
          <a:p>
            <a:r>
              <a:t>Good morning ma’am.</a:t>
            </a:r>
          </a:p>
          <a:p>
            <a:endParaRPr/>
          </a:p>
          <a:p>
            <a:r>
              <a:t>We are here to present our project titled “Network Intrusion Detection using Machine Learning.”</a:t>
            </a:r>
          </a:p>
          <a:p>
            <a:endParaRPr/>
          </a:p>
          <a:p>
            <a:r>
              <a:t>The main idea of our project is to use machine learning techniques to analyze network traffic and identify whether the traffic is normal or potentially malicious.</a:t>
            </a:r>
          </a:p>
          <a:p>
            <a:endParaRPr/>
          </a:p>
          <a:p>
            <a:r>
              <a:t>For this project, we are using two ensemble learning algorithms: Random Forest and Gradient-Boosted Trees.</a:t>
            </a:r>
          </a:p>
          <a:p>
            <a:endParaRPr/>
          </a:p>
          <a:p>
            <a:r>
              <a:t>I am Tanya Sri, and my teammate is Prudhvi Sai.</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Tanya Sri — Why Network Intrusion Detection Matters</a:t>
            </a:r>
          </a:p>
          <a:p>
            <a:endParaRPr/>
          </a:p>
          <a:p>
            <a:r>
              <a:t>Before going into the model, let us understand the problem.</a:t>
            </a:r>
          </a:p>
          <a:p>
            <a:endParaRPr/>
          </a:p>
          <a:p>
            <a:r>
              <a:t>Today, networks generate a very large amount of traffic. Checking all this traffic manually is difficult and time-consuming.</a:t>
            </a:r>
          </a:p>
          <a:p>
            <a:endParaRPr/>
          </a:p>
          <a:p>
            <a:r>
              <a:t>Also, cyber attacks are continuously changing. If we depend only on predefined security rules, a new or modified attack may not always be detected.</a:t>
            </a:r>
          </a:p>
          <a:p>
            <a:endParaRPr/>
          </a:p>
          <a:p>
            <a:r>
              <a:t>So, our approach is to use machine learning to learn patterns from network traffic and use those patterns to identify suspicious activity.</a:t>
            </a:r>
          </a:p>
          <a:p>
            <a:endParaRPr/>
          </a:p>
          <a:p>
            <a:r>
              <a:t>In simple terms: Network Traffic → Pattern Analysis → Normal or Intrusion.</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Tanya Sri — From Rules to Machine Learning</a:t>
            </a:r>
          </a:p>
          <a:p>
            <a:endParaRPr/>
          </a:p>
          <a:p>
            <a:r>
              <a:t>Traditional intrusion detection systems generally depend on predefined rules.</a:t>
            </a:r>
          </a:p>
          <a:p>
            <a:endParaRPr/>
          </a:p>
          <a:p>
            <a:r>
              <a:t>For example, if a particular traffic pattern is already known to be malicious, a rule can be created to detect it.</a:t>
            </a:r>
          </a:p>
          <a:p>
            <a:endParaRPr/>
          </a:p>
          <a:p>
            <a:r>
              <a:t>The limitation is that these rules require manual updates and may not adapt well to changing attack patterns.</a:t>
            </a:r>
          </a:p>
          <a:p>
            <a:endParaRPr/>
          </a:p>
          <a:p>
            <a:r>
              <a:t>Machine learning takes a different approach. Instead of manually defining every possible attack, we provide historical network traffic to the model. The model learns patterns from that data and uses them to classify new traffic.</a:t>
            </a:r>
          </a:p>
          <a:p>
            <a:endParaRPr/>
          </a:p>
          <a:p>
            <a:r>
              <a:t>The main difference is: Rule-based detection depends on predefined rules, while machine learning learns patterns from data.</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Tanya Sri — Proposed System</a:t>
            </a:r>
          </a:p>
          <a:p>
            <a:endParaRPr/>
          </a:p>
          <a:p>
            <a:r>
              <a:t>This slide shows our proposed traffic classification pipeline.</a:t>
            </a:r>
          </a:p>
          <a:p>
            <a:endParaRPr/>
          </a:p>
          <a:p>
            <a:r>
              <a:t>We start with the CIC-IDS2017 dataset. Then we preprocess the data, prepare the relevant features, and split the data into training and testing sets.</a:t>
            </a:r>
          </a:p>
          <a:p>
            <a:endParaRPr/>
          </a:p>
          <a:p>
            <a:r>
              <a:t>After that, we apply two machine learning approaches: Random Forest and Gradient-Boosted Trees.</a:t>
            </a:r>
          </a:p>
          <a:p>
            <a:endParaRPr/>
          </a:p>
          <a:p>
            <a:r>
              <a:t>The purpose is to use the prepared network traffic features to classify activity as normal or intrusion.</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Tanya Sri — Ensemble Learning Approaches</a:t>
            </a:r>
          </a:p>
          <a:p>
            <a:endParaRPr/>
          </a:p>
          <a:p>
            <a:r>
              <a:t>We use two ensemble learning approaches.</a:t>
            </a:r>
          </a:p>
          <a:p>
            <a:endParaRPr/>
          </a:p>
          <a:p>
            <a:r>
              <a:t>Random Forest uses multiple decision trees in parallel and combines their predictions through voting or averaging.</a:t>
            </a:r>
          </a:p>
          <a:p>
            <a:endParaRPr/>
          </a:p>
          <a:p>
            <a:r>
              <a:t>Gradient-Boosted Trees build trees sequentially, where each new tree tries to correct errors made by previous trees.</a:t>
            </a:r>
          </a:p>
          <a:p>
            <a:endParaRPr/>
          </a:p>
          <a:p>
            <a:r>
              <a:t>Both approaches combine multiple trees, but they build and combine those trees differently.</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Prudhvi Sai — Random Forest vs Gradient-Boosted Trees</a:t>
            </a:r>
          </a:p>
          <a:p>
            <a:endParaRPr/>
          </a:p>
          <a:p>
            <a:r>
              <a:t>Here we compare the two algorithms.</a:t>
            </a:r>
          </a:p>
          <a:p>
            <a:endParaRPr/>
          </a:p>
          <a:p>
            <a:r>
              <a:t>Random Forest builds multiple trees independently and combines their results through voting or averaging.</a:t>
            </a:r>
          </a:p>
          <a:p>
            <a:endParaRPr/>
          </a:p>
          <a:p>
            <a:r>
              <a:t>Gradient-Boosted Trees build trees one after another, with each new tree trying to correct the errors of previous trees.</a:t>
            </a:r>
          </a:p>
          <a:p>
            <a:endParaRPr/>
          </a:p>
          <a:p>
            <a:r>
              <a:t>Therefore, Random Forest represents a parallel ensemble approach, while Gradient Boosting represents a sequential error-correcting approach.</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Tanya Sri — Dataset: CIC-IDS2017</a:t>
            </a:r>
          </a:p>
          <a:p>
            <a:endParaRPr/>
          </a:p>
          <a:p>
            <a:r>
              <a:t>For our project, we use the CIC-IDS2017 dataset.</a:t>
            </a:r>
          </a:p>
          <a:p>
            <a:endParaRPr/>
          </a:p>
          <a:p>
            <a:r>
              <a:t>It contains network traffic representing both normal activity and different attack scenarios.</a:t>
            </a:r>
          </a:p>
          <a:p>
            <a:endParaRPr/>
          </a:p>
          <a:p>
            <a:r>
              <a:t>The dataset is available in multiple CSV files. Each row represents a network traffic record, while the columns contain different traffic features along with the attack label.</a:t>
            </a:r>
          </a:p>
          <a:p>
            <a:endParaRPr/>
          </a:p>
          <a:p>
            <a:r>
              <a:t>This dataset provides the input information required for our machine learning models.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Tanya Sri — Exploratory Data Analysis (EDA)</a:t>
            </a:r>
          </a:p>
          <a:p>
            <a:endParaRPr/>
          </a:p>
          <a:p>
            <a:r>
              <a:t>Before training our machine learning models, we need to understand the dataset.</a:t>
            </a:r>
          </a:p>
          <a:p>
            <a:endParaRPr/>
          </a:p>
          <a:p>
            <a:r>
              <a:t>EDA stands for Exploratory Data Analysis. It is the process of examining the dataset to understand its structure, quality, and patterns before applying machine learning.</a:t>
            </a:r>
          </a:p>
          <a:p>
            <a:endParaRPr/>
          </a:p>
          <a:p>
            <a:r>
              <a:t>For our project, EDA should include checking the number of rows and columns, available traffic features, missing or invalid values, feature distributions, and the distribution of normal and attack traffic.</a:t>
            </a:r>
          </a:p>
          <a:p>
            <a:endParaRPr/>
          </a:p>
          <a:p>
            <a:r>
              <a:t>EDA is important because we should understand and prepare the data before giving it to a machine learning model.</a:t>
            </a:r>
          </a:p>
          <a:p>
            <a:endParaRPr/>
          </a:p>
          <a:p>
            <a:r>
              <a:t>Important: We have not included specific EDA numbers or graphs unless they were actually calculated from the dataset.</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Prudhvi Sai — End-to-End ML Pipeline</a:t>
            </a:r>
          </a:p>
          <a:p>
            <a:endParaRPr/>
          </a:p>
          <a:p>
            <a:r>
              <a:t>The complete machine learning pipeline has four main stages shown here: data collection, preprocessing, feature preparation, and model training.</a:t>
            </a:r>
          </a:p>
          <a:p>
            <a:endParaRPr/>
          </a:p>
          <a:p>
            <a:r>
              <a:t>In our expanded workflow, EDA comes before preprocessing so that we first understand the data.</a:t>
            </a:r>
          </a:p>
          <a:p>
            <a:endParaRPr/>
          </a:p>
          <a:p>
            <a:r>
              <a:t>After preprocessing, we prepare the relevant features and split the dataset into training and testing data.</a:t>
            </a:r>
          </a:p>
          <a:p>
            <a:endParaRPr/>
          </a:p>
          <a:p>
            <a:r>
              <a:t>The training data is used to build the models, while the testing data is used to evaluate them on unseen data.</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Prudhvi Sai — Performance Measurement</a:t>
            </a:r>
          </a:p>
          <a:p>
            <a:endParaRPr/>
          </a:p>
          <a:p>
            <a:r>
              <a:t>After training the models, we need to determine how well they perform.</a:t>
            </a:r>
          </a:p>
          <a:p>
            <a:endParaRPr/>
          </a:p>
          <a:p>
            <a:r>
              <a:t>Accuracy tells us the overall correctness of predictions.</a:t>
            </a:r>
          </a:p>
          <a:p>
            <a:endParaRPr/>
          </a:p>
          <a:p>
            <a:r>
              <a:t>Precision tells us, when the model predicts an intrusion, how often that prediction is correct.</a:t>
            </a:r>
          </a:p>
          <a:p>
            <a:endParaRPr/>
          </a:p>
          <a:p>
            <a:r>
              <a:t>Recall tells us how effectively the model detects actual intrusive traffic.</a:t>
            </a:r>
          </a:p>
          <a:p>
            <a:endParaRPr/>
          </a:p>
          <a:p>
            <a:r>
              <a:t>F1-score combines precision and recall into a single measure.</a:t>
            </a:r>
          </a:p>
          <a:p>
            <a:endParaRPr/>
          </a:p>
          <a:p>
            <a:r>
              <a:t>A confusion matrix helps us understand the different correct and incorrect classifications.</a:t>
            </a:r>
          </a:p>
          <a:p>
            <a:endParaRPr/>
          </a:p>
          <a:p>
            <a:r>
              <a:t>These are the planned evaluation indicators; actual numerical results should only be stated after the models are trained and tested.</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Prudhvi Sai — Expected Outcome</a:t>
            </a:r>
          </a:p>
          <a:p>
            <a:endParaRPr/>
          </a:p>
          <a:p>
            <a:r>
              <a:t>The expected outcome of our project is to improve the identification of malicious network activity using ensemble learning.</a:t>
            </a:r>
          </a:p>
          <a:p>
            <a:endParaRPr/>
          </a:p>
          <a:p>
            <a:r>
              <a:t>We also aim to compare Random Forest and Gradient-Boosted Trees and understand their trade-offs for intrusion detection.</a:t>
            </a:r>
          </a:p>
          <a:p>
            <a:endParaRPr/>
          </a:p>
          <a:p>
            <a:r>
              <a:t>Another objective is to provide a foundation for scalable monitoring in high-volume environments and reduce dependence on continuously updated manual rules.</a:t>
            </a:r>
          </a:p>
          <a:p>
            <a:endParaRPr/>
          </a:p>
          <a:p>
            <a:r>
              <a:t>These are expected outcomes, not experimental results.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Prudhvi Sai — Conclusion</a:t>
            </a:r>
          </a:p>
          <a:p>
            <a:endParaRPr/>
          </a:p>
          <a:p>
            <a:r>
              <a:t>To conclude, our project follows a complete machine learning workflow:</a:t>
            </a:r>
          </a:p>
          <a:p>
            <a:endParaRPr/>
          </a:p>
          <a:p>
            <a:r>
              <a:t>CIC-IDS2017 Dataset → EDA → Preprocessing → Feature Preparation → Train/Test Split → Random Forest and Gradient Boosting → Evaluation.</a:t>
            </a:r>
          </a:p>
          <a:p>
            <a:endParaRPr/>
          </a:p>
          <a:p>
            <a:r>
              <a:t>The main idea is to use machine learning to identify patterns in network traffic and classify suspicious activity.</a:t>
            </a:r>
          </a:p>
          <a:p>
            <a:endParaRPr/>
          </a:p>
          <a:p>
            <a:r>
              <a:t>By comparing two ensemble learning approaches, we can study their behavior for network intrusion detection.</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8466" y="-8468"/>
            <a:ext cx="9169804" cy="6874935"/>
            <a:chOff x="-8466" y="-8468"/>
            <a:chExt cx="9169804" cy="6874935"/>
          </a:xfrm>
        </p:grpSpPr>
        <p:cxnSp>
          <p:nvCxnSpPr>
            <p:cNvPr id="17" name="Straight Connector 16"/>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9" name="Freeform 18"/>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Freeform 19"/>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1" name="Freeform 20"/>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21"/>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Freeform 22"/>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Freeform 23"/>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Freeform 24"/>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Freeform 27"/>
            <p:cNvSpPr/>
            <p:nvPr/>
          </p:nvSpPr>
          <p:spPr>
            <a:xfrm>
              <a:off x="-8466" y="-8468"/>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130595" y="2404534"/>
            <a:ext cx="5826719"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130595" y="4050834"/>
            <a:ext cx="5826719"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2287403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045682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9598" y="2700868"/>
            <a:ext cx="6347715"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6956020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1320800"/>
          </a:xfrm>
        </p:spPr>
        <p:txBody>
          <a:bodyPr/>
          <a:lstStyle/>
          <a:p>
            <a:r>
              <a:rPr lang="en-US"/>
              <a:t>Click to edit Master title style</a:t>
            </a:r>
            <a:endParaRPr lang="en-US" dirty="0"/>
          </a:p>
        </p:txBody>
      </p:sp>
      <p:sp>
        <p:nvSpPr>
          <p:cNvPr id="3" name="Content Placeholder 2"/>
          <p:cNvSpPr>
            <a:spLocks noGrp="1"/>
          </p:cNvSpPr>
          <p:nvPr>
            <p:ph sz="half" idx="1"/>
          </p:nvPr>
        </p:nvSpPr>
        <p:spPr>
          <a:xfrm>
            <a:off x="609600" y="2160589"/>
            <a:ext cx="3088109" cy="3880772"/>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869204" y="2160590"/>
            <a:ext cx="3088110" cy="388077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5712857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3" cy="132080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09599"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599"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866640"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3866640"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9/24/2026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03936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4"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9/24/2026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822160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27545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1498604"/>
            <a:ext cx="2790182"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3571275" y="514925"/>
            <a:ext cx="3386037"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09599" y="2777069"/>
            <a:ext cx="2790182" cy="2584449"/>
          </a:xfrm>
        </p:spPr>
        <p:txBody>
          <a:bodyPr>
            <a:normAutofit/>
          </a:bodyPr>
          <a:lstStyle>
            <a:lvl1pPr marL="0" indent="0">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977914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4800600"/>
            <a:ext cx="6347714"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 y="609600"/>
            <a:ext cx="6347714"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09599" y="5367338"/>
            <a:ext cx="6347714"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1638892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600" y="4470400"/>
            <a:ext cx="6347714"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7482937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101074" y="3632200"/>
            <a:ext cx="541980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470400"/>
            <a:ext cx="6347715"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2273142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09598" y="1931988"/>
            <a:ext cx="6347715"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2740573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12962439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15848" y="609600"/>
            <a:ext cx="6341465"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56501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27507598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7312" y="609600"/>
            <a:ext cx="978812"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09599" y="609600"/>
            <a:ext cx="5195026" cy="525145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4073875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7" name="Group 16"/>
          <p:cNvGrpSpPr/>
          <p:nvPr/>
        </p:nvGrpSpPr>
        <p:grpSpPr>
          <a:xfrm>
            <a:off x="-8467" y="-8468"/>
            <a:ext cx="9169805" cy="6874935"/>
            <a:chOff x="-8467" y="-8468"/>
            <a:chExt cx="9169805" cy="6874935"/>
          </a:xfrm>
        </p:grpSpPr>
        <p:sp>
          <p:nvSpPr>
            <p:cNvPr id="7" name="Freeform 6"/>
            <p:cNvSpPr/>
            <p:nvPr/>
          </p:nvSpPr>
          <p:spPr>
            <a:xfrm>
              <a:off x="-8467" y="4013200"/>
              <a:ext cx="457200" cy="2853267"/>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8" name="Straight Connector 7"/>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0" name="Freeform 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Freeform 1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Freeform 15"/>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09599" y="609600"/>
            <a:ext cx="6347713"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09599" y="2160590"/>
            <a:ext cx="6347714"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405258" y="6041363"/>
            <a:ext cx="684132"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5BCAD085-E8A6-8845-BD4E-CB4CCA059FC4}" type="datetimeFigureOut">
              <a:rPr lang="en-US" smtClean="0"/>
              <a:t>9/24/2026</a:t>
            </a:fld>
            <a:endParaRPr lang="en-US"/>
          </a:p>
        </p:txBody>
      </p:sp>
      <p:sp>
        <p:nvSpPr>
          <p:cNvPr id="5" name="Footer Placeholder 4"/>
          <p:cNvSpPr>
            <a:spLocks noGrp="1"/>
          </p:cNvSpPr>
          <p:nvPr>
            <p:ph type="ftr" sz="quarter" idx="3"/>
          </p:nvPr>
        </p:nvSpPr>
        <p:spPr>
          <a:xfrm>
            <a:off x="609599" y="6041363"/>
            <a:ext cx="4622973"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44676" y="6041363"/>
            <a:ext cx="512638" cy="365125"/>
          </a:xfrm>
          <a:prstGeom prst="rect">
            <a:avLst/>
          </a:prstGeom>
        </p:spPr>
        <p:txBody>
          <a:bodyPr vert="horz" lIns="91440" tIns="45720" rIns="91440" bIns="45720" rtlCol="0" anchor="ctr"/>
          <a:lstStyle>
            <a:lvl1pPr algn="r">
              <a:defRPr sz="900">
                <a:solidFill>
                  <a:schemeClr val="accent1"/>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187536368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orig_slide_1.png"/>
          <p:cNvPicPr>
            <a:picLocks noChangeAspect="1"/>
          </p:cNvPicPr>
          <p:nvPr/>
        </p:nvPicPr>
        <p:blipFill>
          <a:blip r:embed="rId3"/>
          <a:stretch>
            <a:fillRect/>
          </a:stretch>
        </p:blipFill>
        <p:spPr>
          <a:xfrm>
            <a:off x="0" y="0"/>
            <a:ext cx="9144000"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orig_slide_2.png"/>
          <p:cNvPicPr>
            <a:picLocks noChangeAspect="1"/>
          </p:cNvPicPr>
          <p:nvPr/>
        </p:nvPicPr>
        <p:blipFill>
          <a:blip r:embed="rId3"/>
          <a:stretch>
            <a:fillRect/>
          </a:stretch>
        </p:blipFill>
        <p:spPr>
          <a:xfrm>
            <a:off x="0" y="0"/>
            <a:ext cx="9144000"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orig_slide_3.png"/>
          <p:cNvPicPr>
            <a:picLocks noChangeAspect="1"/>
          </p:cNvPicPr>
          <p:nvPr/>
        </p:nvPicPr>
        <p:blipFill>
          <a:blip r:embed="rId3"/>
          <a:stretch>
            <a:fillRect/>
          </a:stretch>
        </p:blipFill>
        <p:spPr>
          <a:xfrm>
            <a:off x="0" y="0"/>
            <a:ext cx="9144000"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orig_slide_4.png"/>
          <p:cNvPicPr>
            <a:picLocks noChangeAspect="1"/>
          </p:cNvPicPr>
          <p:nvPr/>
        </p:nvPicPr>
        <p:blipFill>
          <a:blip r:embed="rId3"/>
          <a:stretch>
            <a:fillRect/>
          </a:stretch>
        </p:blipFill>
        <p:spPr>
          <a:xfrm>
            <a:off x="0" y="0"/>
            <a:ext cx="9144000"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orig_slide_5.png"/>
          <p:cNvPicPr>
            <a:picLocks noChangeAspect="1"/>
          </p:cNvPicPr>
          <p:nvPr/>
        </p:nvPicPr>
        <p:blipFill>
          <a:blip r:embed="rId3"/>
          <a:stretch>
            <a:fillRect/>
          </a:stretch>
        </p:blipFill>
        <p:spPr>
          <a:xfrm>
            <a:off x="0" y="0"/>
            <a:ext cx="9144000"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orig_slide_6.png"/>
          <p:cNvPicPr>
            <a:picLocks noChangeAspect="1"/>
          </p:cNvPicPr>
          <p:nvPr/>
        </p:nvPicPr>
        <p:blipFill>
          <a:blip r:embed="rId3"/>
          <a:stretch>
            <a:fillRect/>
          </a:stretch>
        </p:blipFill>
        <p:spPr>
          <a:xfrm>
            <a:off x="0" y="0"/>
            <a:ext cx="9144000"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orig_slide_7.png"/>
          <p:cNvPicPr>
            <a:picLocks noChangeAspect="1"/>
          </p:cNvPicPr>
          <p:nvPr/>
        </p:nvPicPr>
        <p:blipFill>
          <a:blip r:embed="rId3"/>
          <a:stretch>
            <a:fillRect/>
          </a:stretch>
        </p:blipFill>
        <p:spPr>
          <a:xfrm>
            <a:off x="0" y="0"/>
            <a:ext cx="9144000"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91440"/>
          </a:xfrm>
          <a:prstGeom prst="rect">
            <a:avLst/>
          </a:prstGeom>
          <a:solidFill>
            <a:srgbClr val="2297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347472"/>
            <a:ext cx="8138160" cy="594360"/>
          </a:xfrm>
          <a:prstGeom prst="rect">
            <a:avLst/>
          </a:prstGeom>
          <a:noFill/>
        </p:spPr>
        <p:txBody>
          <a:bodyPr wrap="none">
            <a:spAutoFit/>
          </a:bodyPr>
          <a:lstStyle/>
          <a:p>
            <a:pPr>
              <a:defRPr sz="2800" b="1">
                <a:solidFill>
                  <a:srgbClr val="132E4A"/>
                </a:solidFill>
                <a:latin typeface="Aptos Display"/>
              </a:defRPr>
            </a:pPr>
            <a:r>
              <a:t>Exploratory Data Analysis (EDA)</a:t>
            </a:r>
          </a:p>
        </p:txBody>
      </p:sp>
      <p:sp>
        <p:nvSpPr>
          <p:cNvPr id="4" name="TextBox 3"/>
          <p:cNvSpPr txBox="1"/>
          <p:nvPr/>
        </p:nvSpPr>
        <p:spPr>
          <a:xfrm>
            <a:off x="530352" y="941832"/>
            <a:ext cx="7772400" cy="411480"/>
          </a:xfrm>
          <a:prstGeom prst="rect">
            <a:avLst/>
          </a:prstGeom>
          <a:noFill/>
        </p:spPr>
        <p:txBody>
          <a:bodyPr wrap="none">
            <a:spAutoFit/>
          </a:bodyPr>
          <a:lstStyle/>
          <a:p>
            <a:pPr>
              <a:defRPr sz="1300">
                <a:solidFill>
                  <a:srgbClr val="505A62"/>
                </a:solidFill>
                <a:latin typeface="Aptos"/>
              </a:defRPr>
            </a:pPr>
            <a:r>
              <a:t>Understanding the dataset before preprocessing and model training</a:t>
            </a:r>
          </a:p>
        </p:txBody>
      </p:sp>
      <p:sp>
        <p:nvSpPr>
          <p:cNvPr id="5" name="Rounded Rectangle 4"/>
          <p:cNvSpPr/>
          <p:nvPr/>
        </p:nvSpPr>
        <p:spPr>
          <a:xfrm>
            <a:off x="594360" y="1600200"/>
            <a:ext cx="3840480" cy="1417320"/>
          </a:xfrm>
          <a:prstGeom prst="roundRect">
            <a:avLst/>
          </a:prstGeom>
          <a:solidFill>
            <a:srgbClr val="EFF8F5"/>
          </a:solidFill>
          <a:ln>
            <a:solidFill>
              <a:srgbClr val="BEDC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95528" y="1764792"/>
            <a:ext cx="3383280" cy="365760"/>
          </a:xfrm>
          <a:prstGeom prst="rect">
            <a:avLst/>
          </a:prstGeom>
          <a:noFill/>
        </p:spPr>
        <p:txBody>
          <a:bodyPr wrap="none">
            <a:spAutoFit/>
          </a:bodyPr>
          <a:lstStyle/>
          <a:p>
            <a:pPr>
              <a:defRPr sz="1600" b="1">
                <a:solidFill>
                  <a:srgbClr val="132E4A"/>
                </a:solidFill>
                <a:latin typeface="Aptos"/>
              </a:defRPr>
            </a:pPr>
            <a:r>
              <a:t>Dataset Structure</a:t>
            </a:r>
          </a:p>
        </p:txBody>
      </p:sp>
      <p:sp>
        <p:nvSpPr>
          <p:cNvPr id="7" name="TextBox 6"/>
          <p:cNvSpPr txBox="1"/>
          <p:nvPr/>
        </p:nvSpPr>
        <p:spPr>
          <a:xfrm>
            <a:off x="795528" y="2221992"/>
            <a:ext cx="3383280" cy="502920"/>
          </a:xfrm>
          <a:prstGeom prst="rect">
            <a:avLst/>
          </a:prstGeom>
          <a:noFill/>
        </p:spPr>
        <p:txBody>
          <a:bodyPr wrap="none">
            <a:spAutoFit/>
          </a:bodyPr>
          <a:lstStyle/>
          <a:p>
            <a:pPr>
              <a:defRPr sz="1200">
                <a:solidFill>
                  <a:srgbClr val="232A30"/>
                </a:solidFill>
                <a:latin typeface="Aptos"/>
              </a:defRPr>
            </a:pPr>
            <a:r>
              <a:t>Rows, columns, traffic features and labels</a:t>
            </a:r>
          </a:p>
        </p:txBody>
      </p:sp>
      <p:sp>
        <p:nvSpPr>
          <p:cNvPr id="8" name="Rounded Rectangle 7"/>
          <p:cNvSpPr/>
          <p:nvPr/>
        </p:nvSpPr>
        <p:spPr>
          <a:xfrm>
            <a:off x="4709160" y="1600200"/>
            <a:ext cx="3840480" cy="1417320"/>
          </a:xfrm>
          <a:prstGeom prst="roundRect">
            <a:avLst/>
          </a:prstGeom>
          <a:solidFill>
            <a:srgbClr val="EFF8F5"/>
          </a:solidFill>
          <a:ln>
            <a:solidFill>
              <a:srgbClr val="BEDC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910328" y="1764792"/>
            <a:ext cx="3383280" cy="365760"/>
          </a:xfrm>
          <a:prstGeom prst="rect">
            <a:avLst/>
          </a:prstGeom>
          <a:noFill/>
        </p:spPr>
        <p:txBody>
          <a:bodyPr wrap="none">
            <a:spAutoFit/>
          </a:bodyPr>
          <a:lstStyle/>
          <a:p>
            <a:pPr>
              <a:defRPr sz="1600" b="1">
                <a:solidFill>
                  <a:srgbClr val="132E4A"/>
                </a:solidFill>
                <a:latin typeface="Aptos"/>
              </a:defRPr>
            </a:pPr>
            <a:r>
              <a:t>Data Quality</a:t>
            </a:r>
          </a:p>
        </p:txBody>
      </p:sp>
      <p:sp>
        <p:nvSpPr>
          <p:cNvPr id="10" name="TextBox 9"/>
          <p:cNvSpPr txBox="1"/>
          <p:nvPr/>
        </p:nvSpPr>
        <p:spPr>
          <a:xfrm>
            <a:off x="4910328" y="2221992"/>
            <a:ext cx="3383280" cy="502920"/>
          </a:xfrm>
          <a:prstGeom prst="rect">
            <a:avLst/>
          </a:prstGeom>
          <a:noFill/>
        </p:spPr>
        <p:txBody>
          <a:bodyPr wrap="none">
            <a:spAutoFit/>
          </a:bodyPr>
          <a:lstStyle/>
          <a:p>
            <a:pPr>
              <a:defRPr sz="1200">
                <a:solidFill>
                  <a:srgbClr val="232A30"/>
                </a:solidFill>
                <a:latin typeface="Aptos"/>
              </a:defRPr>
            </a:pPr>
            <a:r>
              <a:t>Missing, invalid or inconsistent values</a:t>
            </a:r>
          </a:p>
        </p:txBody>
      </p:sp>
      <p:sp>
        <p:nvSpPr>
          <p:cNvPr id="11" name="Rounded Rectangle 10"/>
          <p:cNvSpPr/>
          <p:nvPr/>
        </p:nvSpPr>
        <p:spPr>
          <a:xfrm>
            <a:off x="594360" y="3429000"/>
            <a:ext cx="3840480" cy="1417320"/>
          </a:xfrm>
          <a:prstGeom prst="roundRect">
            <a:avLst/>
          </a:prstGeom>
          <a:solidFill>
            <a:srgbClr val="EFF8F5"/>
          </a:solidFill>
          <a:ln>
            <a:solidFill>
              <a:srgbClr val="BEDC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95528" y="3593592"/>
            <a:ext cx="3383280" cy="365760"/>
          </a:xfrm>
          <a:prstGeom prst="rect">
            <a:avLst/>
          </a:prstGeom>
          <a:noFill/>
        </p:spPr>
        <p:txBody>
          <a:bodyPr wrap="none">
            <a:spAutoFit/>
          </a:bodyPr>
          <a:lstStyle/>
          <a:p>
            <a:pPr>
              <a:defRPr sz="1600" b="1">
                <a:solidFill>
                  <a:srgbClr val="132E4A"/>
                </a:solidFill>
                <a:latin typeface="Aptos"/>
              </a:defRPr>
            </a:pPr>
            <a:r>
              <a:t>Feature Analysis</a:t>
            </a:r>
          </a:p>
        </p:txBody>
      </p:sp>
      <p:sp>
        <p:nvSpPr>
          <p:cNvPr id="13" name="TextBox 12"/>
          <p:cNvSpPr txBox="1"/>
          <p:nvPr/>
        </p:nvSpPr>
        <p:spPr>
          <a:xfrm>
            <a:off x="795528" y="4050791"/>
            <a:ext cx="3383280" cy="502920"/>
          </a:xfrm>
          <a:prstGeom prst="rect">
            <a:avLst/>
          </a:prstGeom>
          <a:noFill/>
        </p:spPr>
        <p:txBody>
          <a:bodyPr wrap="none">
            <a:spAutoFit/>
          </a:bodyPr>
          <a:lstStyle/>
          <a:p>
            <a:pPr>
              <a:defRPr sz="1200">
                <a:solidFill>
                  <a:srgbClr val="232A30"/>
                </a:solidFill>
                <a:latin typeface="Aptos"/>
              </a:defRPr>
            </a:pPr>
            <a:r>
              <a:t>Feature distributions and useful traffic patterns</a:t>
            </a:r>
          </a:p>
        </p:txBody>
      </p:sp>
      <p:sp>
        <p:nvSpPr>
          <p:cNvPr id="14" name="Rounded Rectangle 13"/>
          <p:cNvSpPr/>
          <p:nvPr/>
        </p:nvSpPr>
        <p:spPr>
          <a:xfrm>
            <a:off x="4709160" y="3429000"/>
            <a:ext cx="3840480" cy="1417320"/>
          </a:xfrm>
          <a:prstGeom prst="roundRect">
            <a:avLst/>
          </a:prstGeom>
          <a:solidFill>
            <a:srgbClr val="EFF8F5"/>
          </a:solidFill>
          <a:ln>
            <a:solidFill>
              <a:srgbClr val="BEDC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910328" y="3593592"/>
            <a:ext cx="3383280" cy="365760"/>
          </a:xfrm>
          <a:prstGeom prst="rect">
            <a:avLst/>
          </a:prstGeom>
          <a:noFill/>
        </p:spPr>
        <p:txBody>
          <a:bodyPr wrap="none">
            <a:spAutoFit/>
          </a:bodyPr>
          <a:lstStyle/>
          <a:p>
            <a:pPr>
              <a:defRPr sz="1600" b="1">
                <a:solidFill>
                  <a:srgbClr val="132E4A"/>
                </a:solidFill>
                <a:latin typeface="Aptos"/>
              </a:defRPr>
            </a:pPr>
            <a:r>
              <a:t>Class Distribution</a:t>
            </a:r>
          </a:p>
        </p:txBody>
      </p:sp>
      <p:sp>
        <p:nvSpPr>
          <p:cNvPr id="16" name="TextBox 15"/>
          <p:cNvSpPr txBox="1"/>
          <p:nvPr/>
        </p:nvSpPr>
        <p:spPr>
          <a:xfrm>
            <a:off x="4910328" y="4050791"/>
            <a:ext cx="3383280" cy="502920"/>
          </a:xfrm>
          <a:prstGeom prst="rect">
            <a:avLst/>
          </a:prstGeom>
          <a:noFill/>
        </p:spPr>
        <p:txBody>
          <a:bodyPr wrap="none">
            <a:spAutoFit/>
          </a:bodyPr>
          <a:lstStyle/>
          <a:p>
            <a:pPr>
              <a:defRPr sz="1200">
                <a:solidFill>
                  <a:srgbClr val="232A30"/>
                </a:solidFill>
                <a:latin typeface="Aptos"/>
              </a:defRPr>
            </a:pPr>
            <a:r>
              <a:t>Normal traffic versus attack traffic</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orig_slide_8.png"/>
          <p:cNvPicPr>
            <a:picLocks noChangeAspect="1"/>
          </p:cNvPicPr>
          <p:nvPr/>
        </p:nvPicPr>
        <p:blipFill>
          <a:blip r:embed="rId3"/>
          <a:stretch>
            <a:fillRect/>
          </a:stretch>
        </p:blipFill>
        <p:spPr>
          <a:xfrm>
            <a:off x="0" y="0"/>
            <a:ext cx="9144000"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orig_slide_9.png"/>
          <p:cNvPicPr>
            <a:picLocks noChangeAspect="1"/>
          </p:cNvPicPr>
          <p:nvPr/>
        </p:nvPicPr>
        <p:blipFill>
          <a:blip r:embed="rId3"/>
          <a:stretch>
            <a:fillRect/>
          </a:stretch>
        </p:blipFill>
        <p:spPr>
          <a:xfrm>
            <a:off x="0" y="0"/>
            <a:ext cx="9144000"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orig_slide_10.png"/>
          <p:cNvPicPr>
            <a:picLocks noChangeAspect="1"/>
          </p:cNvPicPr>
          <p:nvPr/>
        </p:nvPicPr>
        <p:blipFill>
          <a:blip r:embed="rId3"/>
          <a:stretch>
            <a:fillRect/>
          </a:stretch>
        </p:blipFill>
        <p:spPr>
          <a:xfrm>
            <a:off x="0" y="0"/>
            <a:ext cx="9144000"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orig_slide_11.png"/>
          <p:cNvPicPr>
            <a:picLocks noChangeAspect="1"/>
          </p:cNvPicPr>
          <p:nvPr/>
        </p:nvPicPr>
        <p:blipFill>
          <a:blip r:embed="rId3"/>
          <a:stretch>
            <a:fillRect/>
          </a:stretch>
        </p:blipFill>
        <p:spPr>
          <a:xfrm>
            <a:off x="0" y="0"/>
            <a:ext cx="9144000" cy="6858000"/>
          </a:xfrm>
          <a:prstGeom prst="rect">
            <a:avLst/>
          </a:prstGeom>
        </p:spPr>
      </p:pic>
    </p:spTree>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Facet</Template>
  <TotalTime>183</TotalTime>
  <Words>1104</Words>
  <Application>Microsoft Office PowerPoint</Application>
  <PresentationFormat>On-screen Show (4:3)</PresentationFormat>
  <Paragraphs>132</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Trebuchet MS</vt:lpstr>
      <vt:lpstr>Wingdings 3</vt:lpstr>
      <vt:lpstr>Facet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tanya sri</cp:lastModifiedBy>
  <cp:revision>2</cp:revision>
  <dcterms:created xsi:type="dcterms:W3CDTF">2013-01-27T09:14:16Z</dcterms:created>
  <dcterms:modified xsi:type="dcterms:W3CDTF">2026-09-24T09:59:43Z</dcterms:modified>
  <cp:category/>
</cp:coreProperties>
</file>